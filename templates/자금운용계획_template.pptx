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handoutMasterIdLst>
    <p:handoutMasterId r:id="rId10"/>
  </p:handoutMasterIdLst>
  <p:sldIdLst>
    <p:sldId id="507" r:id="rId3"/>
    <p:sldId id="505" r:id="rId4"/>
    <p:sldId id="506" r:id="rId5"/>
    <p:sldId id="513" r:id="rId6"/>
    <p:sldId id="515" r:id="rId7"/>
    <p:sldId id="514" r:id="rId8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0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5" userDrawn="1">
          <p15:clr>
            <a:srgbClr val="A4A3A4"/>
          </p15:clr>
        </p15:guide>
        <p15:guide id="2" pos="2258" userDrawn="1">
          <p15:clr>
            <a:srgbClr val="A4A3A4"/>
          </p15:clr>
        </p15:guide>
        <p15:guide id="3" orient="horz" pos="3224" userDrawn="1">
          <p15:clr>
            <a:srgbClr val="A4A3A4"/>
          </p15:clr>
        </p15:guide>
        <p15:guide id="4" pos="223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투스32 컴" initials="투컴" lastIdx="1" clrIdx="0">
    <p:extLst>
      <p:ext uri="{19B8F6BF-5375-455C-9EA6-DF929625EA0E}">
        <p15:presenceInfo xmlns:p15="http://schemas.microsoft.com/office/powerpoint/2012/main" userId="투스32 컴" providerId="None"/>
      </p:ext>
    </p:extLst>
  </p:cmAuthor>
  <p:cmAuthor id="2" name="컴 투스32" initials="컴투" lastIdx="2" clrIdx="1">
    <p:extLst>
      <p:ext uri="{19B8F6BF-5375-455C-9EA6-DF929625EA0E}">
        <p15:presenceInfo xmlns:p15="http://schemas.microsoft.com/office/powerpoint/2012/main" userId="S::com2us32@com2us.com::bcff5d91-d9c9-4e1c-839a-16ad3c6fc0f8" providerId="AD"/>
      </p:ext>
    </p:extLst>
  </p:cmAuthor>
  <p:cmAuthor id="3" name="컴 투스27" initials="컴투" lastIdx="1" clrIdx="2">
    <p:extLst>
      <p:ext uri="{19B8F6BF-5375-455C-9EA6-DF929625EA0E}">
        <p15:presenceInfo xmlns:p15="http://schemas.microsoft.com/office/powerpoint/2012/main" userId="S::com2us27@com2us.com::de9e9d66-dce1-4009-8ec2-c3c312cb253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DCE6F2"/>
    <a:srgbClr val="000000"/>
    <a:srgbClr val="EBF1DE"/>
    <a:srgbClr val="FFFFCC"/>
    <a:srgbClr val="CD0000"/>
    <a:srgbClr val="E6B9B8"/>
    <a:srgbClr val="DEEBF6"/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8" autoAdjust="0"/>
    <p:restoredTop sz="86788" autoAdjust="0"/>
  </p:normalViewPr>
  <p:slideViewPr>
    <p:cSldViewPr>
      <p:cViewPr>
        <p:scale>
          <a:sx n="100" d="100"/>
          <a:sy n="100" d="100"/>
        </p:scale>
        <p:origin x="7320" y="2802"/>
      </p:cViewPr>
      <p:guideLst>
        <p:guide orient="horz" pos="2160"/>
        <p:guide pos="2880"/>
        <p:guide orient="horz" pos="7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3150" y="-114"/>
      </p:cViewPr>
      <p:guideLst>
        <p:guide orient="horz" pos="3225"/>
        <p:guide pos="2258"/>
        <p:guide orient="horz" pos="3224"/>
        <p:guide pos="223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8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076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r">
              <a:defRPr sz="1200"/>
            </a:lvl1pPr>
          </a:lstStyle>
          <a:p>
            <a:fld id="{E68A6404-63EC-45E2-9B80-97B867FB7AC5}" type="datetimeFigureOut">
              <a:rPr lang="ko-KR" altLang="en-US" smtClean="0"/>
              <a:pPr/>
              <a:t>2026-07-15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98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076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r">
              <a:defRPr sz="1200"/>
            </a:lvl1pPr>
          </a:lstStyle>
          <a:p>
            <a:fld id="{BBE1F951-1CD8-4312-AD9F-9161149504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83014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8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4076" y="65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/>
          <a:lstStyle>
            <a:lvl1pPr algn="r">
              <a:defRPr sz="1200"/>
            </a:lvl1pPr>
          </a:lstStyle>
          <a:p>
            <a:fld id="{638F260E-E633-4C30-B4E7-537A30B113CF}" type="datetimeFigureOut">
              <a:rPr lang="ko-KR" altLang="en-US" smtClean="0"/>
              <a:pPr/>
              <a:t>2026-07-15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9687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988" tIns="46993" rIns="93988" bIns="4699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10" y="4861455"/>
            <a:ext cx="5683250" cy="4605577"/>
          </a:xfrm>
          <a:prstGeom prst="rect">
            <a:avLst/>
          </a:prstGeom>
        </p:spPr>
        <p:txBody>
          <a:bodyPr vert="horz" lIns="93988" tIns="46993" rIns="93988" bIns="4699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8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4076" y="9721172"/>
            <a:ext cx="3078427" cy="511730"/>
          </a:xfrm>
          <a:prstGeom prst="rect">
            <a:avLst/>
          </a:prstGeom>
        </p:spPr>
        <p:txBody>
          <a:bodyPr vert="horz" lIns="93988" tIns="46993" rIns="93988" bIns="46993" rtlCol="0" anchor="b"/>
          <a:lstStyle>
            <a:lvl1pPr algn="r">
              <a:defRPr sz="1200"/>
            </a:lvl1pPr>
          </a:lstStyle>
          <a:p>
            <a:fld id="{D2F5E16C-65C9-443A-900A-74AEA7277DC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508877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730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266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수입내역 정리</a:t>
            </a:r>
            <a:r>
              <a:rPr lang="en-US" altLang="ko-KR" dirty="0"/>
              <a:t>]</a:t>
            </a:r>
          </a:p>
          <a:p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4</a:t>
            </a:r>
            <a:r>
              <a:rPr lang="ko-KR" altLang="en-US" dirty="0"/>
              <a:t>월</a:t>
            </a:r>
            <a:r>
              <a:rPr lang="en-US" altLang="ko-KR" dirty="0"/>
              <a:t>: 24</a:t>
            </a:r>
            <a:r>
              <a:rPr lang="ko-KR" altLang="en-US" dirty="0"/>
              <a:t>년도 법인세 </a:t>
            </a:r>
            <a:r>
              <a:rPr lang="ko-KR" altLang="en-US" dirty="0" err="1"/>
              <a:t>환급금</a:t>
            </a:r>
            <a:r>
              <a:rPr lang="en-US" altLang="ko-KR" dirty="0"/>
              <a:t> 23.6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  <a:r>
              <a:rPr lang="en-US" altLang="ko-KR" dirty="0"/>
              <a:t>: 2022-23 </a:t>
            </a:r>
            <a:r>
              <a:rPr lang="ko-KR" altLang="en-US" dirty="0"/>
              <a:t>단체상해보험료 </a:t>
            </a:r>
            <a:r>
              <a:rPr lang="ko-KR" altLang="en-US" dirty="0" err="1"/>
              <a:t>환급금</a:t>
            </a:r>
            <a:r>
              <a:rPr lang="en-US" altLang="ko-KR" dirty="0"/>
              <a:t> 4.3</a:t>
            </a:r>
            <a:r>
              <a:rPr lang="ko-KR" altLang="en-US" dirty="0"/>
              <a:t>백만</a:t>
            </a:r>
            <a:r>
              <a:rPr lang="en-US" altLang="ko-KR" dirty="0"/>
              <a:t>, 25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기 부가세 </a:t>
            </a:r>
            <a:r>
              <a:rPr lang="ko-KR" altLang="en-US" dirty="0" err="1"/>
              <a:t>환급금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6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정기예금 만기해지 이자</a:t>
            </a:r>
            <a:r>
              <a:rPr lang="en-US" altLang="ko-KR" dirty="0"/>
              <a:t>, </a:t>
            </a:r>
            <a:r>
              <a:rPr lang="ko-KR" altLang="en-US" dirty="0"/>
              <a:t>결산이자</a:t>
            </a:r>
            <a:r>
              <a:rPr lang="en-US" altLang="ko-KR" dirty="0"/>
              <a:t> 7</a:t>
            </a:r>
            <a:r>
              <a:rPr lang="ko-KR" altLang="en-US" dirty="0"/>
              <a:t>백만</a:t>
            </a:r>
            <a:r>
              <a:rPr lang="en-US" altLang="ko-KR" dirty="0"/>
              <a:t>, 25</a:t>
            </a:r>
            <a:r>
              <a:rPr lang="ko-KR" altLang="en-US" dirty="0"/>
              <a:t>년 </a:t>
            </a:r>
            <a:r>
              <a:rPr lang="en-US" altLang="ko-KR" dirty="0"/>
              <a:t>(</a:t>
            </a:r>
            <a:r>
              <a:rPr lang="ko-KR" altLang="en-US" dirty="0"/>
              <a:t>예정</a:t>
            </a:r>
            <a:r>
              <a:rPr lang="en-US" altLang="ko-KR" dirty="0"/>
              <a:t>)</a:t>
            </a:r>
            <a:r>
              <a:rPr lang="ko-KR" altLang="en-US" dirty="0"/>
              <a:t>부가세 </a:t>
            </a:r>
            <a:r>
              <a:rPr lang="ko-KR" altLang="en-US" dirty="0" err="1"/>
              <a:t>환급금</a:t>
            </a:r>
            <a:r>
              <a:rPr lang="en-US" altLang="ko-KR" dirty="0"/>
              <a:t> 2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8</a:t>
            </a:r>
            <a:r>
              <a:rPr lang="ko-KR" altLang="en-US" dirty="0"/>
              <a:t>월</a:t>
            </a:r>
            <a:r>
              <a:rPr lang="en-US" altLang="ko-KR" dirty="0"/>
              <a:t>: 25</a:t>
            </a:r>
            <a:r>
              <a:rPr lang="ko-KR" altLang="en-US" dirty="0"/>
              <a:t>년 </a:t>
            </a:r>
            <a:r>
              <a:rPr lang="en-US" altLang="ko-KR" dirty="0"/>
              <a:t>1</a:t>
            </a:r>
            <a:r>
              <a:rPr lang="ko-KR" altLang="en-US" dirty="0"/>
              <a:t>기 확정 부가세 </a:t>
            </a:r>
            <a:r>
              <a:rPr lang="ko-KR" altLang="en-US" dirty="0" err="1"/>
              <a:t>환급금</a:t>
            </a:r>
            <a:r>
              <a:rPr lang="ko-KR" altLang="en-US" dirty="0"/>
              <a:t> </a:t>
            </a:r>
            <a:r>
              <a:rPr lang="en-US" altLang="ko-KR" dirty="0"/>
              <a:t>2.3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● </a:t>
            </a:r>
            <a:r>
              <a:rPr lang="en-US" altLang="ko-KR" dirty="0"/>
              <a:t>10</a:t>
            </a:r>
            <a:r>
              <a:rPr lang="ko-KR" altLang="en-US" dirty="0"/>
              <a:t>월</a:t>
            </a:r>
            <a:r>
              <a:rPr lang="en-US" altLang="ko-KR" dirty="0"/>
              <a:t>: 25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기 예정 부가세 </a:t>
            </a:r>
            <a:r>
              <a:rPr lang="ko-KR" altLang="en-US" dirty="0" err="1"/>
              <a:t>환급금</a:t>
            </a:r>
            <a:r>
              <a:rPr lang="en-US" altLang="ko-KR" dirty="0"/>
              <a:t>: 2</a:t>
            </a:r>
            <a:r>
              <a:rPr lang="ko-KR" altLang="en-US" dirty="0"/>
              <a:t>백만 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 </a:t>
            </a:r>
            <a:r>
              <a:rPr lang="en-US" altLang="ko-KR" dirty="0"/>
              <a:t>12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퇴직연금 </a:t>
            </a:r>
            <a:r>
              <a:rPr lang="en-US" altLang="ko-KR" dirty="0"/>
              <a:t>2</a:t>
            </a:r>
            <a:r>
              <a:rPr lang="ko-KR" altLang="en-US" dirty="0" err="1"/>
              <a:t>개월분</a:t>
            </a:r>
            <a:r>
              <a:rPr lang="ko-KR" altLang="en-US" dirty="0"/>
              <a:t> 납부</a:t>
            </a:r>
            <a:r>
              <a:rPr lang="en-US" altLang="ko-KR" dirty="0"/>
              <a:t>(25.11-12</a:t>
            </a:r>
            <a:r>
              <a:rPr lang="ko-KR" altLang="en-US" dirty="0"/>
              <a:t>월분</a:t>
            </a:r>
            <a:r>
              <a:rPr lang="en-US" altLang="ko-KR" dirty="0"/>
              <a:t>)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1229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23496-51E7-DA55-3C70-59E9FE1F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9579E1-EEC1-187F-536D-DE413C516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B76DA1-8ECE-2557-5E9F-E0E7609DA3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[</a:t>
            </a:r>
            <a:r>
              <a:rPr lang="ko-KR" altLang="en-US" dirty="0"/>
              <a:t>수입내역 정리</a:t>
            </a:r>
            <a:r>
              <a:rPr lang="en-US" altLang="ko-KR" dirty="0"/>
              <a:t>]</a:t>
            </a:r>
          </a:p>
          <a:p>
            <a:r>
              <a:rPr lang="ko-KR" altLang="en-US" dirty="0"/>
              <a:t>●</a:t>
            </a:r>
            <a:r>
              <a:rPr lang="en-US" altLang="ko-KR" dirty="0"/>
              <a:t>1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펀드 해지수익 입금</a:t>
            </a:r>
            <a:r>
              <a:rPr lang="en-US" altLang="ko-KR" dirty="0"/>
              <a:t>: 14.9</a:t>
            </a:r>
            <a:r>
              <a:rPr lang="ko-KR" altLang="en-US" dirty="0"/>
              <a:t>백만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2</a:t>
            </a:r>
            <a:r>
              <a:rPr lang="ko-KR" altLang="en-US" dirty="0"/>
              <a:t>월</a:t>
            </a:r>
            <a:r>
              <a:rPr lang="en-US" altLang="ko-KR" dirty="0"/>
              <a:t>: ’25</a:t>
            </a:r>
            <a:r>
              <a:rPr lang="ko-KR" altLang="en-US" dirty="0"/>
              <a:t>년 </a:t>
            </a:r>
            <a:r>
              <a:rPr lang="en-US" altLang="ko-KR" dirty="0"/>
              <a:t>2</a:t>
            </a:r>
            <a:r>
              <a:rPr lang="ko-KR" altLang="en-US" dirty="0"/>
              <a:t>기 확정 부가세 </a:t>
            </a:r>
            <a:r>
              <a:rPr lang="ko-KR" altLang="en-US" dirty="0" err="1"/>
              <a:t>환급금</a:t>
            </a:r>
            <a:r>
              <a:rPr lang="ko-KR" altLang="en-US" dirty="0"/>
              <a:t> 입금</a:t>
            </a:r>
            <a:r>
              <a:rPr lang="en-US" altLang="ko-KR" dirty="0"/>
              <a:t>: 1.2</a:t>
            </a:r>
            <a:r>
              <a:rPr lang="ko-KR" altLang="en-US" dirty="0"/>
              <a:t>백만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4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자산매각대금 </a:t>
            </a:r>
            <a:r>
              <a:rPr lang="en-US" altLang="ko-KR" dirty="0"/>
              <a:t>15.4</a:t>
            </a:r>
            <a:r>
              <a:rPr lang="ko-KR" altLang="en-US" dirty="0"/>
              <a:t>백만</a:t>
            </a:r>
            <a:r>
              <a:rPr lang="en-US" altLang="ko-KR" dirty="0"/>
              <a:t> </a:t>
            </a:r>
          </a:p>
          <a:p>
            <a:pPr defTabSz="946678">
              <a:defRPr/>
            </a:pPr>
            <a:r>
              <a:rPr lang="en-US" altLang="ko-KR" dirty="0"/>
              <a:t>         ’25</a:t>
            </a:r>
            <a:r>
              <a:rPr lang="ko-KR" altLang="en-US" dirty="0"/>
              <a:t>년 법인세 </a:t>
            </a:r>
            <a:r>
              <a:rPr lang="ko-KR" altLang="en-US" dirty="0" err="1"/>
              <a:t>환급금</a:t>
            </a:r>
            <a:r>
              <a:rPr lang="ko-KR" altLang="en-US" dirty="0"/>
              <a:t> 입금</a:t>
            </a:r>
            <a:r>
              <a:rPr lang="en-US" altLang="ko-KR" dirty="0"/>
              <a:t>: 15</a:t>
            </a:r>
            <a:r>
              <a:rPr lang="ko-KR" altLang="en-US" dirty="0"/>
              <a:t>백만</a:t>
            </a:r>
            <a:endParaRPr lang="en-US" altLang="ko-KR" dirty="0"/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자산매각대금 </a:t>
            </a:r>
            <a:r>
              <a:rPr lang="en-US" altLang="ko-KR" dirty="0"/>
              <a:t>51</a:t>
            </a:r>
            <a:r>
              <a:rPr lang="ko-KR" altLang="en-US" dirty="0"/>
              <a:t>백만</a:t>
            </a:r>
            <a:r>
              <a:rPr lang="en-US" altLang="ko-KR" dirty="0"/>
              <a:t> </a:t>
            </a:r>
          </a:p>
          <a:p>
            <a:pPr defTabSz="946678">
              <a:defRPr/>
            </a:pPr>
            <a:r>
              <a:rPr lang="ko-KR" altLang="en-US" dirty="0"/>
              <a:t>●</a:t>
            </a:r>
            <a:r>
              <a:rPr lang="en-US" altLang="ko-KR" dirty="0"/>
              <a:t>6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이자수익 </a:t>
            </a:r>
            <a:r>
              <a:rPr lang="en-US" altLang="ko-KR" dirty="0"/>
              <a:t>6.5</a:t>
            </a:r>
            <a:r>
              <a:rPr lang="ko-KR" altLang="en-US" dirty="0"/>
              <a:t>백만</a:t>
            </a:r>
            <a:r>
              <a:rPr lang="en-US" altLang="ko-KR" dirty="0"/>
              <a:t> </a:t>
            </a:r>
          </a:p>
          <a:p>
            <a:pPr defTabSz="946678">
              <a:defRPr/>
            </a:pP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[</a:t>
            </a:r>
            <a:r>
              <a:rPr lang="ko-KR" altLang="en-US" dirty="0"/>
              <a:t>지출내역 정리</a:t>
            </a:r>
            <a:r>
              <a:rPr lang="en-US" altLang="ko-KR" dirty="0"/>
              <a:t>]</a:t>
            </a:r>
          </a:p>
          <a:p>
            <a:pPr defTabSz="946678">
              <a:defRPr/>
            </a:pPr>
            <a:r>
              <a:rPr lang="ko-KR" altLang="en-US" dirty="0"/>
              <a:t>○</a:t>
            </a:r>
            <a:r>
              <a:rPr lang="en-US" altLang="ko-KR" dirty="0"/>
              <a:t>1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퇴직위로금 </a:t>
            </a:r>
            <a:r>
              <a:rPr lang="en-US" altLang="ko-KR" dirty="0"/>
              <a:t>18</a:t>
            </a:r>
            <a:r>
              <a:rPr lang="ko-KR" altLang="en-US" dirty="0"/>
              <a:t>백만</a:t>
            </a:r>
            <a:r>
              <a:rPr lang="en-US" altLang="ko-KR" dirty="0"/>
              <a:t>(</a:t>
            </a:r>
            <a:r>
              <a:rPr lang="ko-KR" altLang="en-US" dirty="0"/>
              <a:t>문정혁 이사</a:t>
            </a:r>
            <a:r>
              <a:rPr lang="en-US" altLang="ko-KR" dirty="0"/>
              <a:t>)</a:t>
            </a:r>
          </a:p>
          <a:p>
            <a:pPr defTabSz="946678">
              <a:defRPr/>
            </a:pPr>
            <a:r>
              <a:rPr lang="ko-KR" altLang="en-US" dirty="0"/>
              <a:t>○</a:t>
            </a:r>
            <a:r>
              <a:rPr lang="en-US" altLang="ko-KR" dirty="0"/>
              <a:t>2</a:t>
            </a:r>
            <a:r>
              <a:rPr lang="ko-KR" altLang="en-US" dirty="0"/>
              <a:t>월</a:t>
            </a:r>
            <a:r>
              <a:rPr lang="en-US" altLang="ko-KR" dirty="0"/>
              <a:t>: </a:t>
            </a:r>
            <a:r>
              <a:rPr lang="ko-KR" altLang="en-US" dirty="0"/>
              <a:t>미국법인 출자금 </a:t>
            </a:r>
            <a:r>
              <a:rPr lang="en-US" altLang="ko-KR" dirty="0"/>
              <a:t>$5,000(7.1</a:t>
            </a:r>
            <a:r>
              <a:rPr lang="ko-KR" altLang="en-US" dirty="0"/>
              <a:t>백만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         </a:t>
            </a:r>
            <a:r>
              <a:rPr lang="ko-KR" altLang="en-US" dirty="0"/>
              <a:t>일본 출장비 및 법인 등록면허세 납부</a:t>
            </a:r>
            <a:r>
              <a:rPr lang="en-US" altLang="ko-KR" dirty="0"/>
              <a:t>(</a:t>
            </a:r>
            <a:r>
              <a:rPr lang="ko-KR" altLang="en-US" dirty="0"/>
              <a:t>법인카드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:2.8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○</a:t>
            </a:r>
            <a:r>
              <a:rPr lang="en-US" altLang="ko-KR" dirty="0"/>
              <a:t>3</a:t>
            </a:r>
            <a:r>
              <a:rPr lang="ko-KR" altLang="en-US" dirty="0"/>
              <a:t>월</a:t>
            </a:r>
            <a:r>
              <a:rPr lang="en-US" altLang="ko-KR" dirty="0"/>
              <a:t>: ATOP UNIVERSE(</a:t>
            </a:r>
            <a:r>
              <a:rPr lang="ko-KR" altLang="en-US" dirty="0" err="1"/>
              <a:t>버추얼</a:t>
            </a:r>
            <a:r>
              <a:rPr lang="ko-KR" altLang="en-US" dirty="0"/>
              <a:t> 아티스트 육성 프로젝트</a:t>
            </a:r>
            <a:r>
              <a:rPr lang="en-US" altLang="ko-KR" dirty="0"/>
              <a:t>) </a:t>
            </a:r>
            <a:r>
              <a:rPr lang="ko-KR" altLang="en-US" dirty="0"/>
              <a:t>투자</a:t>
            </a:r>
            <a:r>
              <a:rPr lang="en-US" altLang="ko-KR" dirty="0"/>
              <a:t>: 1,000</a:t>
            </a:r>
            <a:r>
              <a:rPr lang="ko-KR" altLang="en-US" dirty="0"/>
              <a:t>백만</a:t>
            </a:r>
            <a:endParaRPr lang="en-US" altLang="ko-KR" dirty="0"/>
          </a:p>
          <a:p>
            <a:r>
              <a:rPr lang="ko-KR" altLang="en-US" dirty="0"/>
              <a:t>○</a:t>
            </a:r>
            <a:r>
              <a:rPr lang="en-US" altLang="ko-KR" dirty="0"/>
              <a:t>7</a:t>
            </a:r>
            <a:r>
              <a:rPr lang="ko-KR" altLang="en-US" dirty="0"/>
              <a:t>월</a:t>
            </a:r>
            <a:r>
              <a:rPr lang="en-US" altLang="ko-KR" dirty="0"/>
              <a:t>: 1</a:t>
            </a:r>
            <a:r>
              <a:rPr lang="ko-KR" altLang="en-US" dirty="0"/>
              <a:t>기 확정 부가세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3.7</a:t>
            </a:r>
            <a:r>
              <a:rPr lang="ko-KR" altLang="en-US" dirty="0"/>
              <a:t>백만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99253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72570" y="6491291"/>
            <a:ext cx="471462" cy="365125"/>
          </a:xfrm>
        </p:spPr>
        <p:txBody>
          <a:bodyPr/>
          <a:lstStyle>
            <a:lvl1pPr>
              <a:defRPr sz="1000" b="1"/>
            </a:lvl1pPr>
          </a:lstStyle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72570" y="6491291"/>
            <a:ext cx="471462" cy="365125"/>
          </a:xfrm>
          <a:prstGeom prst="rect">
            <a:avLst/>
          </a:prstGeom>
        </p:spPr>
        <p:txBody>
          <a:bodyPr/>
          <a:lstStyle>
            <a:lvl1pPr>
              <a:defRPr sz="1000" b="1"/>
            </a:lvl1pPr>
          </a:lstStyle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55EF3E-2620-48D8-A5A5-728C2A99D19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24328" y="259052"/>
            <a:ext cx="1401007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8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3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03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618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938754" y="6500834"/>
            <a:ext cx="3805254" cy="35719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756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551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587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6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5117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11995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/>
          <a:lstStyle/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139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938754" y="6500834"/>
            <a:ext cx="3805254" cy="3571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44008" y="6492899"/>
            <a:ext cx="4000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320B1E-F1F8-49FA-908E-B16E9ECDA61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256617" y="1000125"/>
            <a:ext cx="8640000" cy="1588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256617" y="355578"/>
            <a:ext cx="8640000" cy="1588"/>
          </a:xfrm>
          <a:prstGeom prst="line">
            <a:avLst/>
          </a:prstGeom>
          <a:ln w="19050"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개체 틀 1">
            <a:extLst>
              <a:ext uri="{FF2B5EF4-FFF2-40B4-BE49-F238E27FC236}">
                <a16:creationId xmlns:a16="http://schemas.microsoft.com/office/drawing/2014/main" id="{8F1C8809-39AA-4C26-8452-76A24ECDF14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404813"/>
            <a:ext cx="7354888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4C909E47-1770-4E21-9D60-CCEF3696BF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60336A66-BBFE-4049-9FCF-F34324DC1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950" y="6597650"/>
            <a:ext cx="2133600" cy="22066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맑은 고딕" panose="020B0503020000020004" pitchFamily="50" charset="-127"/>
                <a:cs typeface="Verdana" panose="020B0604030504040204" pitchFamily="34" charset="0"/>
              </a:defRPr>
            </a:lvl1pPr>
          </a:lstStyle>
          <a:p>
            <a:fld id="{92A5CEA2-90F0-4B2D-A12D-E1B23C5D988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1A47D9C-9C12-445F-BEA0-48CB256022DB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61047" y="352361"/>
            <a:ext cx="1440000" cy="36000"/>
          </a:xfrm>
          <a:prstGeom prst="rect">
            <a:avLst/>
          </a:prstGeom>
          <a:solidFill>
            <a:srgbClr val="DC2828">
              <a:alpha val="0"/>
            </a:srgbClr>
          </a:solidFill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BA0EC97-8085-43D1-9DA3-EA95BE53BF28}"/>
              </a:ext>
            </a:extLst>
          </p:cNvPr>
          <p:cNvPicPr>
            <a:picLocks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61047" y="3067852"/>
            <a:ext cx="1440000" cy="36000"/>
          </a:xfrm>
          <a:prstGeom prst="rect">
            <a:avLst/>
          </a:prstGeom>
          <a:solidFill>
            <a:srgbClr val="DC2828">
              <a:alpha val="0"/>
            </a:srgbClr>
          </a:solidFill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FD4634-DED8-4A0E-9F42-75908141D68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524328" y="259052"/>
            <a:ext cx="1401007" cy="42480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2048B38-7AC4-425F-B06D-2E51696DCED9}"/>
              </a:ext>
            </a:extLst>
          </p:cNvPr>
          <p:cNvGrpSpPr/>
          <p:nvPr userDrawn="1"/>
        </p:nvGrpSpPr>
        <p:grpSpPr>
          <a:xfrm>
            <a:off x="7288796" y="6362278"/>
            <a:ext cx="1603684" cy="180000"/>
            <a:chOff x="9981978" y="5652517"/>
            <a:chExt cx="1603684" cy="180000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E423B4FE-99C7-41D8-82B1-A38A28583D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5"/>
            <a:srcRect l="21804"/>
            <a:stretch/>
          </p:blipFill>
          <p:spPr>
            <a:xfrm>
              <a:off x="10137913" y="5652517"/>
              <a:ext cx="1447749" cy="180000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408212C4-AD73-4653-B207-C01C66758CC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5"/>
            <a:srcRect r="91578"/>
            <a:stretch/>
          </p:blipFill>
          <p:spPr>
            <a:xfrm>
              <a:off x="9981978" y="5652517"/>
              <a:ext cx="155935" cy="18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673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90FBD8F3-FF35-7E63-CD75-71F8F7807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98" y="1270501"/>
            <a:ext cx="7159137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2800" b="1" dirty="0" err="1">
                <a:latin typeface="+mn-ea"/>
              </a:rPr>
              <a:t>카탈리스터</a:t>
            </a:r>
            <a:r>
              <a:rPr lang="ko-KR" altLang="en-US" sz="2800" b="1" dirty="0">
                <a:latin typeface="+mn-ea"/>
              </a:rPr>
              <a:t> </a:t>
            </a:r>
            <a:r>
              <a:rPr lang="en-US" altLang="ko-KR" sz="2800" b="1" dirty="0">
                <a:latin typeface="+mn-ea"/>
              </a:rPr>
              <a:t>2026</a:t>
            </a:r>
            <a:r>
              <a:rPr lang="ko-KR" altLang="en-US" sz="2800" b="1" dirty="0">
                <a:latin typeface="+mn-ea"/>
              </a:rPr>
              <a:t>년 </a:t>
            </a:r>
            <a:r>
              <a:rPr lang="en-US" altLang="ko-KR" sz="2800" b="1" dirty="0">
                <a:latin typeface="+mn-ea"/>
              </a:rPr>
              <a:t>7</a:t>
            </a:r>
            <a:r>
              <a:rPr lang="ko-KR" altLang="en-US" sz="2800" b="1" dirty="0">
                <a:latin typeface="+mn-ea"/>
              </a:rPr>
              <a:t>월 자금운용계획</a:t>
            </a:r>
            <a:r>
              <a:rPr lang="en-US" altLang="ko-KR" sz="2800" b="1" dirty="0">
                <a:latin typeface="+mn-ea"/>
              </a:rPr>
              <a:t>(</a:t>
            </a:r>
            <a:r>
              <a:rPr lang="ko-KR" altLang="en-US" sz="2800" b="1" dirty="0">
                <a:latin typeface="+mn-ea"/>
              </a:rPr>
              <a:t>안</a:t>
            </a:r>
            <a:r>
              <a:rPr lang="en-US" altLang="ko-KR" sz="2800" b="1" dirty="0">
                <a:latin typeface="+mn-ea"/>
              </a:rPr>
              <a:t>)</a:t>
            </a:r>
            <a:endParaRPr lang="ko-KR" altLang="en-US" sz="2800" b="1" dirty="0">
              <a:latin typeface="+mn-ea"/>
            </a:endParaRP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5AB41FAD-F152-B153-5F37-FE0271C52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198" y="3284984"/>
            <a:ext cx="2904326" cy="6309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400" dirty="0">
                <a:latin typeface="+mj-lt"/>
                <a:ea typeface="맑은 고딕" pitchFamily="50" charset="-127"/>
              </a:rPr>
              <a:t>경영전략부문 전략금융실</a:t>
            </a:r>
            <a:endParaRPr lang="en-US" altLang="ko-KR" sz="1400" dirty="0">
              <a:latin typeface="+mj-lt"/>
              <a:ea typeface="맑은 고딕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sz="1400" dirty="0">
                <a:latin typeface="+mj-lt"/>
                <a:ea typeface="맑은 고딕" pitchFamily="50" charset="-127"/>
              </a:rPr>
              <a:t>2026. 7. 16</a:t>
            </a:r>
          </a:p>
        </p:txBody>
      </p:sp>
    </p:spTree>
    <p:extLst>
      <p:ext uri="{BB962C8B-B14F-4D97-AF65-F5344CB8AC3E}">
        <p14:creationId xmlns:p14="http://schemas.microsoft.com/office/powerpoint/2010/main" val="314926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Ⅰ. 7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월 자금운용계획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안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4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91B83F-B1B9-43EF-9815-BE7D85D6AE92}"/>
              </a:ext>
            </a:extLst>
          </p:cNvPr>
          <p:cNvSpPr txBox="1"/>
          <p:nvPr/>
        </p:nvSpPr>
        <p:spPr>
          <a:xfrm>
            <a:off x="323528" y="1196752"/>
            <a:ext cx="857603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latinLnBrk="0">
              <a:lnSpc>
                <a:spcPct val="120000"/>
              </a:lnSpc>
              <a:buAutoNum type="arabicPeriod"/>
            </a:pPr>
            <a:r>
              <a:rPr lang="en-US" altLang="ko-KR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7</a:t>
            </a: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월 자금수지</a:t>
            </a:r>
            <a:r>
              <a:rPr lang="en-US" altLang="ko-KR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(flow) : </a:t>
            </a:r>
            <a:r>
              <a:rPr lang="en-US" altLang="ko-KR" sz="1100" b="1" dirty="0">
                <a:latin typeface="+mn-ea"/>
              </a:rPr>
              <a:t>2,420.5</a:t>
            </a:r>
            <a:r>
              <a:rPr lang="ko-KR" altLang="en-US" sz="1100" b="1" dirty="0">
                <a:latin typeface="+mn-ea"/>
              </a:rPr>
              <a:t>백만 </a:t>
            </a:r>
            <a:r>
              <a:rPr lang="en-US" altLang="ko-KR" sz="1100" b="1" dirty="0">
                <a:latin typeface="+mn-ea"/>
              </a:rPr>
              <a:t>(</a:t>
            </a:r>
            <a:r>
              <a:rPr lang="ko-KR" altLang="en-US" sz="1100" b="1" dirty="0">
                <a:latin typeface="+mn-ea"/>
              </a:rPr>
              <a:t>기초 </a:t>
            </a:r>
            <a:r>
              <a:rPr lang="en-US" altLang="ko-KR" sz="1100" b="1" dirty="0">
                <a:latin typeface="+mn-ea"/>
              </a:rPr>
              <a:t>2,462.5</a:t>
            </a:r>
            <a:r>
              <a:rPr lang="ko-KR" altLang="en-US" sz="1100" b="1" dirty="0">
                <a:latin typeface="+mn-ea"/>
              </a:rPr>
              <a:t>백만 </a:t>
            </a:r>
            <a:r>
              <a:rPr lang="en-US" altLang="ko-KR" sz="1100" b="1" dirty="0">
                <a:latin typeface="+mn-ea"/>
              </a:rPr>
              <a:t>+  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자금수지차 </a:t>
            </a:r>
            <a:r>
              <a:rPr lang="en-US" altLang="ko-KR" sz="1100" b="1" dirty="0">
                <a:solidFill>
                  <a:srgbClr val="0000FF"/>
                </a:solidFill>
                <a:latin typeface="+mn-ea"/>
              </a:rPr>
              <a:t>-42.0</a:t>
            </a:r>
            <a:r>
              <a:rPr lang="ko-KR" altLang="en-US" sz="1100" b="1" dirty="0">
                <a:solidFill>
                  <a:srgbClr val="0000FF"/>
                </a:solidFill>
                <a:latin typeface="+mn-ea"/>
              </a:rPr>
              <a:t>백만</a:t>
            </a:r>
            <a:r>
              <a:rPr lang="ko-KR" altLang="en-US" sz="1100" b="1" dirty="0">
                <a:latin typeface="+mn-ea"/>
              </a:rPr>
              <a:t>  </a:t>
            </a:r>
            <a:r>
              <a:rPr lang="en-US" altLang="ko-KR" sz="1100" b="1" dirty="0">
                <a:latin typeface="+mn-ea"/>
              </a:rPr>
              <a:t>= </a:t>
            </a:r>
            <a:r>
              <a:rPr lang="ko-KR" altLang="en-US" sz="1100" b="1" dirty="0">
                <a:latin typeface="+mn-ea"/>
              </a:rPr>
              <a:t>기말 </a:t>
            </a:r>
            <a:r>
              <a:rPr lang="en-US" altLang="ko-KR" sz="1100" b="1" dirty="0">
                <a:latin typeface="+mn-ea"/>
              </a:rPr>
              <a:t>2,420.5</a:t>
            </a:r>
            <a:r>
              <a:rPr lang="ko-KR" altLang="en-US" sz="1100" b="1" dirty="0">
                <a:latin typeface="+mn-ea"/>
              </a:rPr>
              <a:t>백만</a:t>
            </a:r>
            <a:r>
              <a:rPr lang="en-US" altLang="ko-KR" sz="1100" b="1" dirty="0">
                <a:latin typeface="+mn-ea"/>
              </a:rPr>
              <a:t>)</a:t>
            </a:r>
            <a:endParaRPr lang="en-US" altLang="ko-KR" sz="1100" b="1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46BC85-0D11-4183-A3ED-C2E6D27780DF}"/>
              </a:ext>
            </a:extLst>
          </p:cNvPr>
          <p:cNvSpPr txBox="1"/>
          <p:nvPr/>
        </p:nvSpPr>
        <p:spPr>
          <a:xfrm>
            <a:off x="8053551" y="1406490"/>
            <a:ext cx="9361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1111F9D-B84F-4BEA-9AF5-9709F91C6E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363414"/>
              </p:ext>
            </p:extLst>
          </p:nvPr>
        </p:nvGraphicFramePr>
        <p:xfrm>
          <a:off x="683568" y="1628812"/>
          <a:ext cx="8208912" cy="1800189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3449734490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2433683322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2069313503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3936342260"/>
                    </a:ext>
                  </a:extLst>
                </a:gridCol>
                <a:gridCol w="4032447">
                  <a:extLst>
                    <a:ext uri="{9D8B030D-6E8A-4147-A177-3AD203B41FA5}">
                      <a16:colId xmlns:a16="http://schemas.microsoft.com/office/drawing/2014/main" val="2427009001"/>
                    </a:ext>
                  </a:extLst>
                </a:gridCol>
              </a:tblGrid>
              <a:tr h="200021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(a)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1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(b)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 - 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16067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A. 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기초잔고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2,488.8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2,462.5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-26.3 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○ 기초잔고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유동자금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362.5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백만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운용자금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2,100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백만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744916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B. 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6.5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0.1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-6.4 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>
                          <a:latin typeface="+mn-ea"/>
                          <a:ea typeface="+mn-ea"/>
                        </a:rPr>
                        <a:t>●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정기예금 만기해지 이자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6.4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백만 등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147582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823735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C. </a:t>
                      </a:r>
                      <a:r>
                        <a:rPr lang="ko-KR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32.8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42.1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+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sz="800" b="1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>
                          <a:latin typeface="+mn-ea"/>
                          <a:ea typeface="+mn-ea"/>
                        </a:rPr>
                        <a:t>●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급여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15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백만 등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346942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○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급여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백만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부가세 납부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3.7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백만 등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283407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D. 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 w="3175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-26.3 </a:t>
                      </a:r>
                      <a:endParaRPr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-42.0 </a:t>
                      </a:r>
                      <a:endParaRPr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-15.8 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215472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E. 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자금조달</a:t>
                      </a:r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-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249650"/>
                  </a:ext>
                </a:extLst>
              </a:tr>
              <a:tr h="2000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F. </a:t>
                      </a:r>
                      <a:r>
                        <a:rPr lang="ko-KR" alt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기말잔고 </a:t>
                      </a:r>
                      <a:r>
                        <a:rPr lang="en-US" altLang="ko-KR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A+D+E)</a:t>
                      </a:r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2,462.5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2,420.5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-42.0 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○ 기말잔고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유동자금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320.5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백만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운용자금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2,100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백만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36000" marR="762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857791"/>
                  </a:ext>
                </a:extLst>
              </a:tr>
            </a:tbl>
          </a:graphicData>
        </a:graphic>
      </p:graphicFrame>
      <p:sp>
        <p:nvSpPr>
          <p:cNvPr id="9" name="슬라이드 번호 개체 틀 20">
            <a:extLst>
              <a:ext uri="{FF2B5EF4-FFF2-40B4-BE49-F238E27FC236}">
                <a16:creationId xmlns:a16="http://schemas.microsoft.com/office/drawing/2014/main" id="{5BECADF5-C337-456F-A265-4695305F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2570" y="6491291"/>
            <a:ext cx="471462" cy="365125"/>
          </a:xfrm>
        </p:spPr>
        <p:txBody>
          <a:bodyPr/>
          <a:lstStyle/>
          <a:p>
            <a:fld id="{97320B1E-F1F8-49FA-908E-B16E9ECDA612}" type="slidenum">
              <a:rPr lang="ko-KR" altLang="en-US" sz="900" smtClean="0"/>
              <a:pPr/>
              <a:t>2</a:t>
            </a:fld>
            <a:endParaRPr lang="ko-KR" altLang="en-US" sz="9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1A343-6D68-4102-981E-2E9FB5C97B6E}"/>
              </a:ext>
            </a:extLst>
          </p:cNvPr>
          <p:cNvSpPr txBox="1"/>
          <p:nvPr/>
        </p:nvSpPr>
        <p:spPr>
          <a:xfrm>
            <a:off x="323528" y="3861048"/>
            <a:ext cx="857603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2.</a:t>
            </a:r>
            <a:r>
              <a:rPr lang="ko-KR" altLang="en-US" sz="1100" b="1" dirty="0">
                <a:solidFill>
                  <a:srgbClr val="000000"/>
                </a:solidFill>
                <a:latin typeface="+mn-ea"/>
                <a:cs typeface="Arial" panose="020B0604020202020204" pitchFamily="34" charset="0"/>
              </a:rPr>
              <a:t> 유동자금 계획</a:t>
            </a:r>
            <a:endParaRPr lang="en-US" altLang="ko-KR" sz="1100" b="1" dirty="0">
              <a:solidFill>
                <a:srgbClr val="000000"/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92861E1-8BB0-4007-8081-945922A94E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679253"/>
              </p:ext>
            </p:extLst>
          </p:nvPr>
        </p:nvGraphicFramePr>
        <p:xfrm>
          <a:off x="683568" y="4169422"/>
          <a:ext cx="8208913" cy="2376000"/>
        </p:xfrm>
        <a:graphic>
          <a:graphicData uri="http://schemas.openxmlformats.org/drawingml/2006/table">
            <a:tbl>
              <a:tblPr/>
              <a:tblGrid>
                <a:gridCol w="1728192">
                  <a:extLst>
                    <a:ext uri="{9D8B030D-6E8A-4147-A177-3AD203B41FA5}">
                      <a16:colId xmlns:a16="http://schemas.microsoft.com/office/drawing/2014/main" val="985324987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3391128528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885400781"/>
                    </a:ext>
                  </a:extLst>
                </a:gridCol>
                <a:gridCol w="816091">
                  <a:extLst>
                    <a:ext uri="{9D8B030D-6E8A-4147-A177-3AD203B41FA5}">
                      <a16:colId xmlns:a16="http://schemas.microsoft.com/office/drawing/2014/main" val="4126301070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3979522093"/>
                    </a:ext>
                  </a:extLst>
                </a:gridCol>
              </a:tblGrid>
              <a:tr h="216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구분 </a:t>
                      </a: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/>
                        <a:t>7</a:t>
                      </a:r>
                      <a:r>
                        <a:rPr lang="ko-KR" altLang="en-US" sz="800" dirty="0"/>
                        <a:t>월 계획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95045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 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91385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 유동잔고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362.5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362.5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6672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0.1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0.1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/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4307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42.1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42.1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88044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-42.0 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 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-42.0 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C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9345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자금과부족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A+D) 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320.5 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320.5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1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7524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운용자금 활용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5162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예치 전 기말 유동잔고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(=E+F)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7620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320.5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320.5</a:t>
                      </a:r>
                      <a:r>
                        <a:rPr lang="en-US" altLang="ko-KR" sz="800" dirty="0"/>
                        <a:t>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/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91319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H. 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예치 자금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(=G-K)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49847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 유동잔고</a:t>
                      </a:r>
                      <a:endParaRPr lang="en-US" altLang="ko-KR" sz="9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320.5 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- 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320.5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dirty="0"/>
                        <a:t> 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9525" marT="36000" marB="3600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5732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5AC7D9B-00F3-412B-8F40-66B6B4A4BC07}"/>
              </a:ext>
            </a:extLst>
          </p:cNvPr>
          <p:cNvSpPr txBox="1"/>
          <p:nvPr/>
        </p:nvSpPr>
        <p:spPr>
          <a:xfrm>
            <a:off x="7477487" y="3933056"/>
            <a:ext cx="1512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4423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Ⅰ. 7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월 자금운용계획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안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)</a:t>
            </a:r>
            <a:endParaRPr lang="ko-KR" altLang="en-US" sz="1400" b="1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21" name="슬라이드 번호 개체 틀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>
                <a:latin typeface="+mn-ea"/>
              </a:rPr>
              <a:pPr/>
              <a:t>3</a:t>
            </a:fld>
            <a:endParaRPr lang="ko-KR" altLang="en-US" sz="9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88D24E-0E09-4076-9E95-CCAAD5A07E1F}"/>
              </a:ext>
            </a:extLst>
          </p:cNvPr>
          <p:cNvSpPr txBox="1"/>
          <p:nvPr/>
        </p:nvSpPr>
        <p:spPr>
          <a:xfrm>
            <a:off x="323528" y="1209324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3. 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운용자금 계획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5022206-DC95-4DCF-BC31-ADD2668F0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343444"/>
              </p:ext>
            </p:extLst>
          </p:nvPr>
        </p:nvGraphicFramePr>
        <p:xfrm>
          <a:off x="682650" y="1605074"/>
          <a:ext cx="8208912" cy="1823922"/>
        </p:xfrm>
        <a:graphic>
          <a:graphicData uri="http://schemas.openxmlformats.org/drawingml/2006/table">
            <a:tbl>
              <a:tblPr/>
              <a:tblGrid>
                <a:gridCol w="190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03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3975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2658">
                <a:tc rowSpan="2"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/>
                        <a:t>6</a:t>
                      </a:r>
                      <a:r>
                        <a:rPr lang="ko-KR" altLang="en-US" sz="800"/>
                        <a:t>월 실적</a:t>
                      </a:r>
                      <a:endParaRPr sz="800" dirty="0"/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/>
                        <a:t>7</a:t>
                      </a:r>
                      <a:r>
                        <a:rPr lang="ko-KR" altLang="en-US" sz="800"/>
                        <a:t>월 계획</a:t>
                      </a:r>
                      <a:endParaRPr sz="800"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658">
                <a:tc gridSpan="2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원화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환산 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환산 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기초자금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2,400.0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2,400.0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 </a:t>
                      </a:r>
                      <a:endParaRPr sz="800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 </a:t>
                      </a:r>
                      <a:endParaRPr sz="80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B.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해지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감소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300.0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300.0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 </a:t>
                      </a:r>
                      <a:endParaRPr sz="80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C.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금융기관예치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 </a:t>
                      </a:r>
                      <a:endParaRPr sz="80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658"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재예치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 </a:t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658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신규예치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 </a:t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운용자금 증감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(=C-B)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-300.0 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- 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-300.0 </a:t>
                      </a:r>
                      <a:endParaRPr sz="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 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solidFill>
                            <a:srgbClr val="0000FF"/>
                          </a:solidFill>
                        </a:rPr>
                        <a:t>- 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solidFill>
                            <a:srgbClr val="0000FF"/>
                          </a:solidFill>
                        </a:rPr>
                        <a:t>- </a:t>
                      </a:r>
                      <a:endParaRPr sz="800" dirty="0">
                        <a:solidFill>
                          <a:srgbClr val="0000FF"/>
                        </a:solidFill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 </a:t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827203"/>
                  </a:ext>
                </a:extLst>
              </a:tr>
              <a:tr h="2026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기말자금 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(=</a:t>
                      </a: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A+D)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-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/>
                        <a:t>2,100.0 </a:t>
                      </a:r>
                      <a:endParaRPr sz="800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2,100.0 </a:t>
                      </a:r>
                      <a:endParaRPr sz="800" b="1" dirty="0"/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- 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/>
                        <a:t>2,100.0 </a:t>
                      </a:r>
                      <a:endParaRPr sz="800" b="1" dirty="0"/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 </a:t>
                      </a:r>
                      <a:endParaRPr sz="800" dirty="0"/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F9B9CC7-D7B2-438B-B738-FCA8D7D0D801}"/>
              </a:ext>
            </a:extLst>
          </p:cNvPr>
          <p:cNvSpPr txBox="1"/>
          <p:nvPr/>
        </p:nvSpPr>
        <p:spPr>
          <a:xfrm>
            <a:off x="7452320" y="1374242"/>
            <a:ext cx="1512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A1819E-272E-469D-AC8D-8CBB3B3BCABF}"/>
              </a:ext>
            </a:extLst>
          </p:cNvPr>
          <p:cNvSpPr txBox="1"/>
          <p:nvPr/>
        </p:nvSpPr>
        <p:spPr>
          <a:xfrm>
            <a:off x="323528" y="3933056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4. 7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월말 자금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(stock)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: 2,420.5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백만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전월 대비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-42.0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백만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 =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유동자금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320.5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백만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lang="en-US" altLang="ko-KR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-42.0</a:t>
            </a:r>
            <a:r>
              <a:rPr lang="ko-KR" altLang="en-US" sz="1100" dirty="0">
                <a:solidFill>
                  <a:srgbClr val="0000FF"/>
                </a:solidFill>
                <a:latin typeface="+mn-ea"/>
                <a:cs typeface="Arial" panose="020B0604020202020204" pitchFamily="34" charset="0"/>
              </a:rPr>
              <a:t>백만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 +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운용자금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2,100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백만</a:t>
            </a:r>
            <a:endParaRPr lang="en-US" altLang="ko-KR" sz="1100" dirty="0">
              <a:latin typeface="+mn-ea"/>
              <a:cs typeface="Arial" panose="020B0604020202020204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D72CD47-3396-45AC-A555-7B7F4F1F1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036233"/>
              </p:ext>
            </p:extLst>
          </p:nvPr>
        </p:nvGraphicFramePr>
        <p:xfrm>
          <a:off x="682650" y="4404870"/>
          <a:ext cx="8207994" cy="1904450"/>
        </p:xfrm>
        <a:graphic>
          <a:graphicData uri="http://schemas.openxmlformats.org/drawingml/2006/table">
            <a:tbl>
              <a:tblPr/>
              <a:tblGrid>
                <a:gridCol w="1001761">
                  <a:extLst>
                    <a:ext uri="{9D8B030D-6E8A-4147-A177-3AD203B41FA5}">
                      <a16:colId xmlns:a16="http://schemas.microsoft.com/office/drawing/2014/main" val="2988243023"/>
                    </a:ext>
                  </a:extLst>
                </a:gridCol>
                <a:gridCol w="727349">
                  <a:extLst>
                    <a:ext uri="{9D8B030D-6E8A-4147-A177-3AD203B41FA5}">
                      <a16:colId xmlns:a16="http://schemas.microsoft.com/office/drawing/2014/main" val="2123773708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81212896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288463109"/>
                    </a:ext>
                  </a:extLst>
                </a:gridCol>
                <a:gridCol w="672075">
                  <a:extLst>
                    <a:ext uri="{9D8B030D-6E8A-4147-A177-3AD203B41FA5}">
                      <a16:colId xmlns:a16="http://schemas.microsoft.com/office/drawing/2014/main" val="673128901"/>
                    </a:ext>
                  </a:extLst>
                </a:gridCol>
                <a:gridCol w="4462659">
                  <a:extLst>
                    <a:ext uri="{9D8B030D-6E8A-4147-A177-3AD203B41FA5}">
                      <a16:colId xmlns:a16="http://schemas.microsoft.com/office/drawing/2014/main" val="3072122446"/>
                    </a:ext>
                  </a:extLst>
                </a:gridCol>
              </a:tblGrid>
              <a:tr h="19044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(a)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9525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(b)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9525" marR="36000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 – a</a:t>
                      </a:r>
                    </a:p>
                  </a:txBody>
                  <a:tcPr marL="9525" marR="36000" marT="9525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018843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유동자금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362.5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320.5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-42.0 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① 원화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-42.0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백만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(=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수지차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-42.0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백만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651135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endParaRPr sz="8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>
                          <a:latin typeface="+mn-ea"/>
                          <a:ea typeface="+mn-ea"/>
                        </a:rPr>
                        <a:t> ② 외화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: $ -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천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90240"/>
                  </a:ext>
                </a:extLst>
              </a:tr>
              <a:tr h="190445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 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0" fontAlgn="ctr"/>
                      <a:r>
                        <a:rPr sz="800"/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362.5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320.5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-42.0 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>
                          <a:latin typeface="+mn-ea"/>
                          <a:ea typeface="+mn-ea"/>
                        </a:rPr>
                        <a:t>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245602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운용자금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2,100.0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2,100.0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 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879040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endParaRPr sz="8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658677"/>
                  </a:ext>
                </a:extLst>
              </a:tr>
              <a:tr h="190445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 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0" fontAlgn="ctr"/>
                      <a:r>
                        <a:rPr sz="800"/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2,100.0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2,100.0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 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0">
                          <a:latin typeface="+mn-ea"/>
                          <a:ea typeface="+mn-ea"/>
                        </a:rPr>
                        <a:t> </a:t>
                      </a:r>
                      <a:endParaRPr sz="800" b="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611188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기말자금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2,462.5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2,420.5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-42.0 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350768"/>
                  </a:ext>
                </a:extLst>
              </a:tr>
              <a:tr h="1904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(=A+B)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- </a:t>
                      </a:r>
                      <a:endParaRPr sz="800" b="1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6069674"/>
                  </a:ext>
                </a:extLst>
              </a:tr>
              <a:tr h="190445">
                <a:tc gridSpan="2">
                  <a:txBody>
                    <a:bodyPr/>
                    <a:lstStyle/>
                    <a:p>
                      <a:pPr algn="r" rtl="0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　환산 계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rtl="0" fontAlgn="ctr"/>
                      <a:r>
                        <a:rPr sz="800"/>
                        <a:t> 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2,462.5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2,420.5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 dirty="0">
                          <a:solidFill>
                            <a:srgbClr val="0000FF"/>
                          </a:solidFill>
                          <a:latin typeface="+mn-ea"/>
                          <a:ea typeface="+mn-ea"/>
                        </a:rPr>
                        <a:t>-42.0 </a:t>
                      </a:r>
                      <a:endParaRPr sz="800" b="1" dirty="0">
                        <a:solidFill>
                          <a:srgbClr val="0000FF"/>
                        </a:solidFill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499655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23023F2-CABF-48CE-82A2-88C1F756E700}"/>
              </a:ext>
            </a:extLst>
          </p:cNvPr>
          <p:cNvSpPr txBox="1"/>
          <p:nvPr/>
        </p:nvSpPr>
        <p:spPr>
          <a:xfrm>
            <a:off x="7452320" y="4167746"/>
            <a:ext cx="1512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0949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. 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연간 자금실적</a:t>
            </a:r>
          </a:p>
        </p:txBody>
      </p:sp>
      <p:sp>
        <p:nvSpPr>
          <p:cNvPr id="21" name="슬라이드 번호 개체 틀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>
                <a:latin typeface="+mn-ea"/>
              </a:rPr>
              <a:pPr/>
              <a:t>4</a:t>
            </a:fld>
            <a:endParaRPr lang="ko-KR" altLang="en-US" sz="9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88D24E-0E09-4076-9E95-CCAAD5A07E1F}"/>
              </a:ext>
            </a:extLst>
          </p:cNvPr>
          <p:cNvSpPr txBox="1"/>
          <p:nvPr/>
        </p:nvSpPr>
        <p:spPr>
          <a:xfrm>
            <a:off x="323528" y="1209324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연간자금실적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(2025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년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B9CC7-D7B2-438B-B738-FCA8D7D0D801}"/>
              </a:ext>
            </a:extLst>
          </p:cNvPr>
          <p:cNvSpPr txBox="1"/>
          <p:nvPr/>
        </p:nvSpPr>
        <p:spPr>
          <a:xfrm>
            <a:off x="7452320" y="1402609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34F345D-8B1C-8329-0462-146063AAB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7220076"/>
              </p:ext>
            </p:extLst>
          </p:nvPr>
        </p:nvGraphicFramePr>
        <p:xfrm>
          <a:off x="255189" y="1603869"/>
          <a:ext cx="8640011" cy="47084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35">
                  <a:extLst>
                    <a:ext uri="{9D8B030D-6E8A-4147-A177-3AD203B41FA5}">
                      <a16:colId xmlns:a16="http://schemas.microsoft.com/office/drawing/2014/main" val="1868399013"/>
                    </a:ext>
                  </a:extLst>
                </a:gridCol>
                <a:gridCol w="70578">
                  <a:extLst>
                    <a:ext uri="{9D8B030D-6E8A-4147-A177-3AD203B41FA5}">
                      <a16:colId xmlns:a16="http://schemas.microsoft.com/office/drawing/2014/main" val="3557089301"/>
                    </a:ext>
                  </a:extLst>
                </a:gridCol>
                <a:gridCol w="68087">
                  <a:extLst>
                    <a:ext uri="{9D8B030D-6E8A-4147-A177-3AD203B41FA5}">
                      <a16:colId xmlns:a16="http://schemas.microsoft.com/office/drawing/2014/main" val="1150500361"/>
                    </a:ext>
                  </a:extLst>
                </a:gridCol>
                <a:gridCol w="1014167">
                  <a:extLst>
                    <a:ext uri="{9D8B030D-6E8A-4147-A177-3AD203B41FA5}">
                      <a16:colId xmlns:a16="http://schemas.microsoft.com/office/drawing/2014/main" val="615488164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550727947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842574171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021051844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165713396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3059511309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3069436844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631885667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87172146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732511735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648277093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1799134238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489352859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654123421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622619683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2585620807"/>
                    </a:ext>
                  </a:extLst>
                </a:gridCol>
                <a:gridCol w="377218">
                  <a:extLst>
                    <a:ext uri="{9D8B030D-6E8A-4147-A177-3AD203B41FA5}">
                      <a16:colId xmlns:a16="http://schemas.microsoft.com/office/drawing/2014/main" val="3648718433"/>
                    </a:ext>
                  </a:extLst>
                </a:gridCol>
                <a:gridCol w="1384056">
                  <a:extLst>
                    <a:ext uri="{9D8B030D-6E8A-4147-A177-3AD203B41FA5}">
                      <a16:colId xmlns:a16="http://schemas.microsoft.com/office/drawing/2014/main" val="12470658"/>
                    </a:ext>
                  </a:extLst>
                </a:gridCol>
              </a:tblGrid>
              <a:tr h="176869">
                <a:tc rowSpan="3"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2024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세부사항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907337"/>
                  </a:ext>
                </a:extLst>
              </a:tr>
              <a:tr h="176869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r>
                        <a:rPr sz="800"/>
                        <a:t> </a:t>
                      </a:r>
                      <a:endParaRPr dirty="0"/>
                    </a:p>
                  </a:txBody>
                  <a:tcPr marL="5650" marR="5650" marT="56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64133"/>
                  </a:ext>
                </a:extLst>
              </a:tr>
              <a:tr h="176869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평균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합계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월평균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395631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기초잔고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6,332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4,039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3,995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3,959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3,935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3,904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3,866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3,813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3,776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3,738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3,695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3,653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1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60365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411491"/>
                  </a:ext>
                </a:extLst>
              </a:tr>
              <a:tr h="176869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○ 이자수익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96589"/>
                  </a:ext>
                </a:extLst>
              </a:tr>
              <a:tr h="183666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○ 세금환급</a:t>
                      </a:r>
                      <a:r>
                        <a:rPr lang="en-US" altLang="ko-KR" sz="600" u="none" strike="noStrike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전산자산 양수도대금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123757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405258"/>
                  </a:ext>
                </a:extLst>
              </a:tr>
              <a:tr h="176869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3,024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14343"/>
                  </a:ext>
                </a:extLst>
              </a:tr>
              <a:tr h="176869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인건비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2,134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78169"/>
                  </a:ext>
                </a:extLst>
              </a:tr>
              <a:tr h="176869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S/W, H/W 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매입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212209"/>
                  </a:ext>
                </a:extLst>
              </a:tr>
              <a:tr h="176869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  <a:latin typeface="+mn-lt"/>
                          <a:ea typeface="+mn-ea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730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42055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제세공과금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○ 원천세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362372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전산관련지출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339599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경영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운영용역비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○ 분기별 그룹사 공용비용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900237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복리후생비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666763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식당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카페 등 운영비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024546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직원비용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복지포인트 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744285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임차료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관리비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27439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지급수수료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○ 등기비용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퇴직연금관리수수료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533831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통신비등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25698"/>
                  </a:ext>
                </a:extLst>
              </a:tr>
              <a:tr h="27693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rtl="0" fontAlgn="ctr"/>
                      <a:endParaRPr lang="en-US" altLang="ko-KR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291729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-2,232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-186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-24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60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205546"/>
                  </a:ext>
                </a:extLst>
              </a:tr>
              <a:tr h="176869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D-1. 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경상수지차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-2,924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-61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-24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ko-KR" altLang="en-US" sz="60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8607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자금조달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증자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5650" marT="565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084113"/>
                  </a:ext>
                </a:extLst>
              </a:tr>
              <a:tr h="176869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기말잔고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A+D+E)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4,039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3,995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3,959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3,935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3,904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3,866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3,813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3,776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3,738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3,695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3,653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04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82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982C9-17FB-41FB-204A-E52F5CD1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>
            <a:extLst>
              <a:ext uri="{FF2B5EF4-FFF2-40B4-BE49-F238E27FC236}">
                <a16:creationId xmlns:a16="http://schemas.microsoft.com/office/drawing/2014/main" id="{5CAAE0A2-F017-AACD-2315-836215A89769}"/>
              </a:ext>
            </a:extLst>
          </p:cNvPr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Ⅱ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. 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연간 자금실적</a:t>
            </a: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71A66CBF-9DE3-1570-F0D2-C12A8E371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>
                <a:latin typeface="+mn-ea"/>
              </a:rPr>
              <a:pPr/>
              <a:t>5</a:t>
            </a:fld>
            <a:endParaRPr lang="ko-KR" altLang="en-US" sz="9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C8705B-4973-918A-2413-652A0686E09C}"/>
              </a:ext>
            </a:extLst>
          </p:cNvPr>
          <p:cNvSpPr txBox="1"/>
          <p:nvPr/>
        </p:nvSpPr>
        <p:spPr>
          <a:xfrm>
            <a:off x="323528" y="1209324"/>
            <a:ext cx="8532439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lnSpc>
                <a:spcPct val="120000"/>
              </a:lnSpc>
            </a:pP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연간자금실적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(2026</a:t>
            </a:r>
            <a:r>
              <a:rPr lang="ko-KR" altLang="en-US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년</a:t>
            </a:r>
            <a:r>
              <a:rPr lang="en-US" altLang="ko-KR" sz="1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Arial" panose="020B0604020202020204" pitchFamily="34" charset="0"/>
              </a:rPr>
              <a:t>)</a:t>
            </a:r>
            <a:endParaRPr lang="en-US" altLang="ko-KR" sz="11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318256-E2A5-E856-136C-909D7AB6899A}"/>
              </a:ext>
            </a:extLst>
          </p:cNvPr>
          <p:cNvSpPr txBox="1"/>
          <p:nvPr/>
        </p:nvSpPr>
        <p:spPr>
          <a:xfrm>
            <a:off x="7452320" y="1413356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8F02D70-F30E-25AF-BF9C-EF640531B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806419"/>
              </p:ext>
            </p:extLst>
          </p:nvPr>
        </p:nvGraphicFramePr>
        <p:xfrm>
          <a:off x="251519" y="1603869"/>
          <a:ext cx="8639994" cy="47054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7634">
                  <a:extLst>
                    <a:ext uri="{9D8B030D-6E8A-4147-A177-3AD203B41FA5}">
                      <a16:colId xmlns:a16="http://schemas.microsoft.com/office/drawing/2014/main" val="1868399013"/>
                    </a:ext>
                  </a:extLst>
                </a:gridCol>
                <a:gridCol w="70578">
                  <a:extLst>
                    <a:ext uri="{9D8B030D-6E8A-4147-A177-3AD203B41FA5}">
                      <a16:colId xmlns:a16="http://schemas.microsoft.com/office/drawing/2014/main" val="3557089301"/>
                    </a:ext>
                  </a:extLst>
                </a:gridCol>
                <a:gridCol w="68087">
                  <a:extLst>
                    <a:ext uri="{9D8B030D-6E8A-4147-A177-3AD203B41FA5}">
                      <a16:colId xmlns:a16="http://schemas.microsoft.com/office/drawing/2014/main" val="1150500361"/>
                    </a:ext>
                  </a:extLst>
                </a:gridCol>
                <a:gridCol w="1014167">
                  <a:extLst>
                    <a:ext uri="{9D8B030D-6E8A-4147-A177-3AD203B41FA5}">
                      <a16:colId xmlns:a16="http://schemas.microsoft.com/office/drawing/2014/main" val="615488164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550727947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842574171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021051844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165713396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3059511309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3069436844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631885667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87172146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732511735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648277093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1799134238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489352859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654123421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622619683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2585620807"/>
                    </a:ext>
                  </a:extLst>
                </a:gridCol>
                <a:gridCol w="377217">
                  <a:extLst>
                    <a:ext uri="{9D8B030D-6E8A-4147-A177-3AD203B41FA5}">
                      <a16:colId xmlns:a16="http://schemas.microsoft.com/office/drawing/2014/main" val="3648718433"/>
                    </a:ext>
                  </a:extLst>
                </a:gridCol>
                <a:gridCol w="1384056">
                  <a:extLst>
                    <a:ext uri="{9D8B030D-6E8A-4147-A177-3AD203B41FA5}">
                      <a16:colId xmlns:a16="http://schemas.microsoft.com/office/drawing/2014/main" val="12470658"/>
                    </a:ext>
                  </a:extLst>
                </a:gridCol>
              </a:tblGrid>
              <a:tr h="176868">
                <a:tc rowSpan="3"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2025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14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세부사항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5907337"/>
                  </a:ext>
                </a:extLst>
              </a:tr>
              <a:tr h="176868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sz="800"/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64133"/>
                  </a:ext>
                </a:extLst>
              </a:tr>
              <a:tr h="176868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 dirty="0">
                          <a:effectLst/>
                          <a:latin typeface="+mn-ea"/>
                          <a:ea typeface="+mn-ea"/>
                        </a:rPr>
                        <a:t>합계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평균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750" u="none" strike="noStrike" dirty="0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750" u="none" strike="noStrike">
                          <a:effectLst/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합계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월평균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6395631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기초잔고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4,100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3,561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3,497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2,470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2,489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2,462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2,387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2,278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760365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411491"/>
                  </a:ext>
                </a:extLst>
              </a:tr>
              <a:tr h="176868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○ 이자수익</a:t>
                      </a:r>
                      <a:r>
                        <a:rPr lang="en-US" altLang="ko-KR" sz="6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396589"/>
                  </a:ext>
                </a:extLst>
              </a:tr>
              <a:tr h="183665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67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u="none" strike="noStrike" dirty="0">
                          <a:effectLst/>
                          <a:latin typeface="+mn-ea"/>
                          <a:ea typeface="+mn-ea"/>
                        </a:rPr>
                        <a:t>○ 자산양수도 대금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123757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1,027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1,477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405258"/>
                  </a:ext>
                </a:extLst>
              </a:tr>
              <a:tr h="176868"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470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814343"/>
                  </a:ext>
                </a:extLst>
              </a:tr>
              <a:tr h="176868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인건비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345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288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>
                          <a:latin typeface="+mn-ea"/>
                          <a:ea typeface="+mn-ea"/>
                        </a:rPr>
                        <a:t>○ 급여</a:t>
                      </a:r>
                      <a:r>
                        <a:rPr lang="en-US" altLang="ko-KR" sz="600">
                          <a:latin typeface="+mn-ea"/>
                          <a:ea typeface="+mn-ea"/>
                        </a:rPr>
                        <a:t>, 4</a:t>
                      </a:r>
                      <a:r>
                        <a:rPr lang="ko-KR" altLang="en-US" sz="600">
                          <a:latin typeface="+mn-ea"/>
                          <a:ea typeface="+mn-ea"/>
                        </a:rPr>
                        <a:t>대보험</a:t>
                      </a:r>
                      <a:r>
                        <a:rPr lang="en-US" altLang="ko-KR" sz="6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>
                          <a:latin typeface="+mn-ea"/>
                          <a:ea typeface="+mn-ea"/>
                        </a:rPr>
                        <a:t>퇴직연금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78169"/>
                  </a:ext>
                </a:extLst>
              </a:tr>
              <a:tr h="176868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S/W, H/W </a:t>
                      </a:r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매입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212209"/>
                  </a:ext>
                </a:extLst>
              </a:tr>
              <a:tr h="176868">
                <a:tc vMerge="1">
                  <a:txBody>
                    <a:bodyPr/>
                    <a:lstStyle/>
                    <a:p>
                      <a:pPr algn="l" rtl="0" fontAlgn="ctr"/>
                      <a:r>
                        <a:rPr sz="800"/>
                        <a:t>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65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기타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 dirty="0">
                          <a:effectLst/>
                          <a:latin typeface="+mn-lt"/>
                          <a:ea typeface="+mn-ea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182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4342055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제세공과금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45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 원천세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362372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전산관련지출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339599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경영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운영용역비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3.5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 분기별 그룹사 공용비용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900237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복리후생비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 동호회비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건강검진비용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명절선물 등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666763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식당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카페 등 운영비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024546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직원비용</a:t>
                      </a:r>
                      <a:r>
                        <a:rPr lang="en-US" altLang="ko-KR" sz="75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 dirty="0">
                          <a:latin typeface="+mn-ea"/>
                          <a:ea typeface="+mn-ea"/>
                        </a:rPr>
                        <a:t>복지포인트 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5.3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5.0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67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744285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>
                          <a:latin typeface="+mn-ea"/>
                          <a:ea typeface="+mn-ea"/>
                        </a:rPr>
                        <a:t>임차료</a:t>
                      </a:r>
                      <a:r>
                        <a:rPr lang="en-US" altLang="ko-KR" sz="75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750">
                          <a:latin typeface="+mn-ea"/>
                          <a:ea typeface="+mn-ea"/>
                        </a:rPr>
                        <a:t>관리비</a:t>
                      </a:r>
                      <a:endParaRPr lang="ko-KR" altLang="en-US" sz="750" dirty="0"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27439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지급수수료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533831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50" dirty="0">
                          <a:latin typeface="+mn-ea"/>
                          <a:ea typeface="+mn-ea"/>
                        </a:rPr>
                        <a:t>통신비등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1.6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  <a:endParaRPr lang="en-US" altLang="ko-KR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7325698"/>
                  </a:ext>
                </a:extLst>
              </a:tr>
              <a:tr h="276934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비경상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750" dirty="0">
                          <a:latin typeface="+mn-ea"/>
                          <a:ea typeface="+mn-ea"/>
                        </a:rPr>
                        <a:t>7.1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1,000.0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n-US" altLang="ko-KR" sz="7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1,007.1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 dirty="0">
                          <a:latin typeface="+mn-ea"/>
                          <a:ea typeface="+mn-ea"/>
                        </a:rPr>
                        <a:t>83.9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600" dirty="0">
                          <a:latin typeface="+mn-ea"/>
                          <a:ea typeface="+mn-ea"/>
                        </a:rPr>
                        <a:t>○ 미국법인 출자금</a:t>
                      </a:r>
                      <a:r>
                        <a:rPr lang="en-US" altLang="ko-KR" sz="600" dirty="0">
                          <a:latin typeface="+mn-ea"/>
                          <a:ea typeface="+mn-ea"/>
                        </a:rPr>
                        <a:t>, </a:t>
                      </a:r>
                    </a:p>
                    <a:p>
                      <a:pPr algn="l" rtl="0" fontAlgn="ctr"/>
                      <a:r>
                        <a:rPr lang="en-US" altLang="ko-KR" sz="600" dirty="0">
                          <a:latin typeface="+mn-ea"/>
                          <a:ea typeface="+mn-ea"/>
                        </a:rPr>
                        <a:t>   ATOP UNIVERSE </a:t>
                      </a:r>
                      <a:r>
                        <a:rPr lang="ko-KR" altLang="en-US" sz="600" dirty="0">
                          <a:latin typeface="+mn-ea"/>
                          <a:ea typeface="+mn-ea"/>
                        </a:rPr>
                        <a:t>신주인수대금</a:t>
                      </a:r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291729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</a:t>
                      </a:r>
                      <a:r>
                        <a:rPr lang="ko-KR" alt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자금수지차 </a:t>
                      </a: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B-C)</a:t>
                      </a:r>
                      <a:endParaRPr 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-64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-1,026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18.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-1,365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-114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205546"/>
                  </a:ext>
                </a:extLst>
              </a:tr>
              <a:tr h="176868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75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D-1. </a:t>
                      </a:r>
                      <a:r>
                        <a:rPr lang="ko-KR" altLang="en-US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경상수지차</a:t>
                      </a:r>
                    </a:p>
                  </a:txBody>
                  <a:tcPr marL="3600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-493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-41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-56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-16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-33 </a:t>
                      </a:r>
                      <a:endParaRPr lang="en-US" altLang="ko-KR" sz="75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-26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-424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-35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ko-KR" altLang="en-US" sz="600" b="0" i="0" u="none" strike="noStrike" dirty="0"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8607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자금조달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증자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5650" marT="565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750">
                          <a:latin typeface="+mn-ea"/>
                          <a:ea typeface="+mn-ea"/>
                        </a:rPr>
                        <a:t>- </a:t>
                      </a:r>
                      <a:endParaRPr sz="75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084113"/>
                  </a:ext>
                </a:extLst>
              </a:tr>
              <a:tr h="176868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기말잔고</a:t>
                      </a: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en-US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A+D+E)</a:t>
                      </a:r>
                    </a:p>
                  </a:txBody>
                  <a:tcPr marL="36000" marR="5650" marT="5650" marB="0" anchor="ctr"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3,607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ko-KR" altLang="en-US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3,561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3,497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2,470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2,489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2,462 </a:t>
                      </a:r>
                      <a:endParaRPr lang="en-US" altLang="ko-KR" sz="75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2,420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2,387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2,351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2,313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2,278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2,242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2,242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7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ko-KR" altLang="en-US" sz="6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50" marR="5650" marT="56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604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600F9-5E52-FDC2-98B5-22A119A9A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213E6F8-9AF6-1938-1DBD-63221FCE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320B1E-F1F8-49FA-908E-B16E9ECDA612}" type="slidenum">
              <a:rPr lang="ko-KR" altLang="en-US" sz="900" smtClean="0"/>
              <a:pPr/>
              <a:t>6</a:t>
            </a:fld>
            <a:endParaRPr lang="ko-KR" altLang="en-US" sz="9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25C5088-82E8-0D26-B57E-022ECDB357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201564"/>
              </p:ext>
            </p:extLst>
          </p:nvPr>
        </p:nvGraphicFramePr>
        <p:xfrm>
          <a:off x="251520" y="1268180"/>
          <a:ext cx="8640960" cy="5041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758">
                  <a:extLst>
                    <a:ext uri="{9D8B030D-6E8A-4147-A177-3AD203B41FA5}">
                      <a16:colId xmlns:a16="http://schemas.microsoft.com/office/drawing/2014/main" val="1516537124"/>
                    </a:ext>
                  </a:extLst>
                </a:gridCol>
                <a:gridCol w="129758">
                  <a:extLst>
                    <a:ext uri="{9D8B030D-6E8A-4147-A177-3AD203B41FA5}">
                      <a16:colId xmlns:a16="http://schemas.microsoft.com/office/drawing/2014/main" val="163550472"/>
                    </a:ext>
                  </a:extLst>
                </a:gridCol>
                <a:gridCol w="129758">
                  <a:extLst>
                    <a:ext uri="{9D8B030D-6E8A-4147-A177-3AD203B41FA5}">
                      <a16:colId xmlns:a16="http://schemas.microsoft.com/office/drawing/2014/main" val="3516985050"/>
                    </a:ext>
                  </a:extLst>
                </a:gridCol>
                <a:gridCol w="1735524">
                  <a:extLst>
                    <a:ext uri="{9D8B030D-6E8A-4147-A177-3AD203B41FA5}">
                      <a16:colId xmlns:a16="http://schemas.microsoft.com/office/drawing/2014/main" val="2081134649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1790337755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1989935935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2306273153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3259234527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3514033609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316422726"/>
                    </a:ext>
                  </a:extLst>
                </a:gridCol>
                <a:gridCol w="513381">
                  <a:extLst>
                    <a:ext uri="{9D8B030D-6E8A-4147-A177-3AD203B41FA5}">
                      <a16:colId xmlns:a16="http://schemas.microsoft.com/office/drawing/2014/main" val="1646330756"/>
                    </a:ext>
                  </a:extLst>
                </a:gridCol>
                <a:gridCol w="2922495">
                  <a:extLst>
                    <a:ext uri="{9D8B030D-6E8A-4147-A177-3AD203B41FA5}">
                      <a16:colId xmlns:a16="http://schemas.microsoft.com/office/drawing/2014/main" val="2108627596"/>
                    </a:ext>
                  </a:extLst>
                </a:gridCol>
              </a:tblGrid>
              <a:tr h="131741">
                <a:tc rowSpan="2" gridSpan="4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411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b-a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905411"/>
                  </a:ext>
                </a:extLst>
              </a:tr>
              <a:tr h="131741">
                <a:tc gridSpan="4" vMerge="1">
                  <a:txBody>
                    <a:bodyPr/>
                    <a:lstStyle/>
                    <a:p>
                      <a:pPr latinLnBrk="1"/>
                      <a:r>
                        <a:rPr sz="800"/>
                        <a:t> </a:t>
                      </a:r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환산계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(a)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원화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외화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($)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환산계</a:t>
                      </a:r>
                      <a:r>
                        <a:rPr lang="en-US" altLang="ko-KR" sz="80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(b)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11" marR="0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388103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A.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기초유동잔고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88.8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88.8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362.5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362.5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+273.7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658264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B.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수지차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-26.3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-26.3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-42.0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-42.0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+15.8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0679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6.5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6.5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0.1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0.1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-6.4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37130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매출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616129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세금환급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676233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이자수익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6.5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-6.5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>
                          <a:latin typeface="+mn-ea"/>
                          <a:ea typeface="+mn-ea"/>
                        </a:rPr>
                        <a:t> ∙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정기예금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300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백만 만기 해지 이자수익 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6.4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백만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731753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+0.1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886343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42.1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42.1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+9.4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138288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인건비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19.9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19.9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90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급여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14.9 </a:t>
                      </a:r>
                    </a:p>
                  </a:txBody>
                  <a:tcPr marL="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15.0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+0.1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618790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상여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179207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퇴직연금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1.9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35646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대보험료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2.9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2.9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-0.1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348514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마케팅비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739922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제세공과금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7.7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7.7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+5.9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30191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법인세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24394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부가가치세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3.7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3.7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+3.7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1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 확정 부가가치세 납부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3.7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백만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0847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 err="1">
                          <a:effectLst/>
                          <a:latin typeface="+mn-ea"/>
                          <a:ea typeface="+mn-ea"/>
                        </a:rPr>
                        <a:t>원천세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+2.2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863513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5411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기타제세공과금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08155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자산매입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4386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투자금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800" dirty="0"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72266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800"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11.2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14.6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+3.4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211939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전산관련지출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-0.6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13169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경영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운영용역비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3.4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+3.3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그룹사 공용비용 지급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596300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u="none" strike="noStrike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기타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9.8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9.8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10.4 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+0.7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780244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운용자금 입지출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300.0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300.0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-300.0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8494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>
                          <a:latin typeface="+mn-ea"/>
                          <a:ea typeface="+mn-ea"/>
                        </a:rPr>
                        <a:t>입금</a:t>
                      </a:r>
                      <a:r>
                        <a:rPr lang="en-US" altLang="ko-KR" sz="80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300.0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300.0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-300.0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∙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정기예금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백만 만기 해지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11381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예치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66827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D. FX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21006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232828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출금</a:t>
                      </a: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962105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E. </a:t>
                      </a:r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조달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1097787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722305"/>
                  </a:ext>
                </a:extLst>
              </a:tr>
              <a:tr h="132713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5411" marT="5411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306943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F. 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유동자금 증감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(=B+C+D+E)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273.7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- </a:t>
                      </a:r>
                      <a:endParaRPr sz="80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>
                          <a:latin typeface="+mn-ea"/>
                          <a:ea typeface="+mn-ea"/>
                        </a:rPr>
                        <a:t>273.7 </a:t>
                      </a:r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-42.0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-42.0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-315.8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sz="800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563564"/>
                  </a:ext>
                </a:extLst>
              </a:tr>
              <a:tr h="132713">
                <a:tc gridSpan="4"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G. 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기말유동잔고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(=A+F)</a:t>
                      </a:r>
                    </a:p>
                  </a:txBody>
                  <a:tcPr marL="36000" marR="5411" marT="5411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362.5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-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800" b="1">
                          <a:latin typeface="+mn-ea"/>
                          <a:ea typeface="+mn-ea"/>
                        </a:rPr>
                        <a:t>362.5 </a:t>
                      </a:r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3600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320.5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320.5 </a:t>
                      </a:r>
                    </a:p>
                  </a:txBody>
                  <a:tcPr marL="0" marR="36000" marT="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-42.0 </a:t>
                      </a:r>
                    </a:p>
                  </a:txBody>
                  <a:tcPr marL="0" marR="36000" marT="0" marB="0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sz="800" b="1" dirty="0">
                        <a:latin typeface="+mn-ea"/>
                        <a:ea typeface="+mn-ea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5183"/>
                  </a:ext>
                </a:extLst>
              </a:tr>
            </a:tbl>
          </a:graphicData>
        </a:graphic>
      </p:graphicFrame>
      <p:sp>
        <p:nvSpPr>
          <p:cNvPr id="4" name="제목 1">
            <a:extLst>
              <a:ext uri="{FF2B5EF4-FFF2-40B4-BE49-F238E27FC236}">
                <a16:creationId xmlns:a16="http://schemas.microsoft.com/office/drawing/2014/main" id="{91561770-F0A9-4CA9-2D44-BF79E873D7BA}"/>
              </a:ext>
            </a:extLst>
          </p:cNvPr>
          <p:cNvSpPr txBox="1">
            <a:spLocks/>
          </p:cNvSpPr>
          <p:nvPr/>
        </p:nvSpPr>
        <p:spPr>
          <a:xfrm>
            <a:off x="222749" y="500042"/>
            <a:ext cx="5757874" cy="428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85750" fontAlgn="auto">
              <a:spcAft>
                <a:spcPts val="0"/>
              </a:spcAft>
              <a:defRPr/>
            </a:pPr>
            <a:r>
              <a:rPr lang="en-US" altLang="ko-KR" sz="1400" b="1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</a:t>
            </a:r>
            <a:r>
              <a:rPr lang="en-US" altLang="ko-KR" sz="14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rgbClr val="C00000"/>
                </a:solidFill>
                <a:latin typeface="+mn-ea"/>
              </a:rPr>
              <a:t>유동자금 계획 세부내역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5B2B28-13B8-B800-FECF-7C54B264DDB3}"/>
              </a:ext>
            </a:extLst>
          </p:cNvPr>
          <p:cNvSpPr txBox="1"/>
          <p:nvPr/>
        </p:nvSpPr>
        <p:spPr>
          <a:xfrm>
            <a:off x="7452320" y="1052736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단위 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백만원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천</a:t>
            </a:r>
            <a:r>
              <a:rPr lang="en-US" altLang="ko-KR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$)</a:t>
            </a:r>
            <a:endParaRPr lang="ko-KR" altLang="en-US" sz="8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83963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AE0B78D-F863-41AA-B68F-B1F7ADFEA90A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995d611-a5b0-4a1a-b906-26ad3c48ece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122034</TotalTime>
  <Words>2484</Words>
  <Application>Microsoft Office PowerPoint</Application>
  <PresentationFormat>화면 슬라이드 쇼(4:3)</PresentationFormat>
  <Paragraphs>1543</Paragraphs>
  <Slides>6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Verdana</vt:lpstr>
      <vt:lpstr>Office 테마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Administrator</dc:creator>
  <cp:lastModifiedBy>com2usholdings14</cp:lastModifiedBy>
  <cp:revision>11347</cp:revision>
  <cp:lastPrinted>2026-07-15T08:41:30Z</cp:lastPrinted>
  <dcterms:created xsi:type="dcterms:W3CDTF">2009-09-17T03:01:44Z</dcterms:created>
  <dcterms:modified xsi:type="dcterms:W3CDTF">2026-07-16T05:33:15Z</dcterms:modified>
</cp:coreProperties>
</file>